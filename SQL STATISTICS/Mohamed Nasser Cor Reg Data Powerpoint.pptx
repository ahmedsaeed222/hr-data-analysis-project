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A09D2-22BC-BCF9-52BA-C3029C96AEC0}" v="2456" dt="2026-05-20T19:15:51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4DCE-380D-1F53-F1EB-A9AD9427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696"/>
          </a:xfrm>
        </p:spPr>
        <p:txBody>
          <a:bodyPr>
            <a:normAutofit fontScale="90000"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Hypothesis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8220-561F-227A-5C97-A8DA1D88C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023"/>
            <a:ext cx="10515600" cy="580344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b="1"/>
              <a:t>1. Job Difficulty and Attrition (Positive Relationship) (+)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We assume a positive relationship between job-related difficulties and employee attrition. Variables such as </a:t>
            </a:r>
            <a:r>
              <a:rPr lang="en-US" b="1">
                <a:ea typeface="+mn-lt"/>
                <a:cs typeface="+mn-lt"/>
              </a:rPr>
              <a:t>travel frequency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>
                <a:ea typeface="+mn-lt"/>
                <a:cs typeface="+mn-lt"/>
              </a:rPr>
              <a:t>distance between home and work</a:t>
            </a:r>
            <a:r>
              <a:rPr lang="en-US">
                <a:ea typeface="+mn-lt"/>
                <a:cs typeface="+mn-lt"/>
              </a:rPr>
              <a:t> increase the likelihood of attrition.</a:t>
            </a:r>
            <a:br>
              <a:rPr lang="en-US" dirty="0"/>
            </a:br>
            <a:endParaRPr lang="en-US"/>
          </a:p>
          <a:p>
            <a:pPr>
              <a:buNone/>
            </a:pPr>
            <a:r>
              <a:rPr lang="en-US" b="1"/>
              <a:t>2. Adaptation and Stability Factors (Mixed Relationships)</a:t>
            </a:r>
            <a:endParaRPr lang="en-US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/>
              <a:t>     A. Employment History (Positive Effect on Attrition) (+)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Employees who have worked in a higher number of companies (greater job mobility/turnovers) are more likely to experience attrition</a:t>
            </a:r>
            <a:endParaRPr lang="en-US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/>
              <a:t>     B. Stability and Organizational Attachment (Negative Effect on Attrition) (-)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The following factors are expected to reduce the likelihood of attrition: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Age (older employees tend to be more stable in the labor market)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Years at the company (higher organizational attachment) 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Performance rating (strong performance increases retention incentives)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Job involvement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42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A066-3ABF-FACC-6D4B-4AA3862C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D85C-F178-090D-72D6-8DC54486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1679"/>
          </a:xfrm>
        </p:spPr>
        <p:txBody>
          <a:bodyPr>
            <a:normAutofit fontScale="90000"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Hypothesis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F231-D3D5-3C6A-54E3-3F23609A9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9286"/>
            <a:ext cx="10515600" cy="50558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Job level (higher positions reduce willingness to take risk and change </a:t>
            </a:r>
            <a:r>
              <a:rPr lang="en-US" dirty="0">
                <a:ea typeface="+mn-lt"/>
                <a:cs typeface="+mn-lt"/>
              </a:rPr>
              <a:t>jobs)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Job satisfaction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Relationship satisfaction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Work–life balance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Training received in the last year (reflecting both skill development and organizational investment) </a:t>
            </a:r>
            <a:br>
              <a:rPr lang="en-US" dirty="0"/>
            </a:br>
            <a:endParaRPr lang="en-US"/>
          </a:p>
          <a:p>
            <a:pPr>
              <a:buNone/>
            </a:pPr>
            <a:r>
              <a:rPr lang="en-US" b="1"/>
              <a:t>3. Financial Incentives (Negative Relationship) (-)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Higher financial incentives are expected to reduce the likelihood of employee attrition (The variables are Monthly Income, Stock Option </a:t>
            </a:r>
            <a:r>
              <a:rPr lang="en-US">
                <a:ea typeface="+mn-lt"/>
                <a:cs typeface="+mn-lt"/>
              </a:rPr>
              <a:t>Level, Percent Salary Hike).</a:t>
            </a:r>
            <a:endParaRPr lang="en-US" dirty="0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2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FE0E-55CB-3C82-1E27-5E9BA370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597"/>
            <a:ext cx="10515600" cy="822358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Results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097FE-42FD-C86C-B7E8-F9AB6D713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646"/>
            <a:ext cx="10515600" cy="568843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We conducted </a:t>
            </a:r>
            <a:r>
              <a:rPr lang="en-US" b="1">
                <a:ea typeface="+mn-lt"/>
                <a:cs typeface="+mn-lt"/>
              </a:rPr>
              <a:t>correlation, regression, and standardization analyses</a:t>
            </a:r>
            <a:r>
              <a:rPr lang="en-US">
                <a:ea typeface="+mn-lt"/>
                <a:cs typeface="+mn-lt"/>
              </a:rPr>
              <a:t> on the dataset.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As hypothesized at the beginning, all hypotheses were verified and found to be supported by the results.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We used regression analysis in addition to correlation analysis because we aim to examine </a:t>
            </a:r>
            <a:r>
              <a:rPr lang="en-US" b="1" dirty="0">
                <a:ea typeface="+mn-lt"/>
                <a:cs typeface="+mn-lt"/>
              </a:rPr>
              <a:t>causal relationships and the magnitude of their effects</a:t>
            </a:r>
            <a:r>
              <a:rPr lang="en-US" dirty="0">
                <a:ea typeface="+mn-lt"/>
                <a:cs typeface="+mn-lt"/>
              </a:rPr>
              <a:t> (i.e., coefficients in the regression table).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Since </a:t>
            </a:r>
            <a:r>
              <a:rPr lang="en-US" b="1">
                <a:ea typeface="+mn-lt"/>
                <a:cs typeface="+mn-lt"/>
              </a:rPr>
              <a:t>monthly income is measured in thousands</a:t>
            </a:r>
            <a:r>
              <a:rPr lang="en-US">
                <a:ea typeface="+mn-lt"/>
                <a:cs typeface="+mn-lt"/>
              </a:rPr>
              <a:t>, unlike the other variables, its inclusion in regression without adjustment could distort the results. Therefore, we applied </a:t>
            </a:r>
            <a:r>
              <a:rPr lang="en-US" b="1">
                <a:ea typeface="+mn-lt"/>
                <a:cs typeface="+mn-lt"/>
              </a:rPr>
              <a:t>standardization to all variables</a:t>
            </a:r>
            <a:r>
              <a:rPr lang="en-US">
                <a:ea typeface="+mn-lt"/>
                <a:cs typeface="+mn-lt"/>
              </a:rPr>
              <a:t> to ensure a balanced and comparable dataset.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It is noted that the coefficients are relatively small. This may be explained by several factors: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 1. Employee attrition is influenced by many variables. We use 15 variables and there are also beyond those included in this model.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2. The analysis captures general relationships, which may become stronger </a:t>
            </a:r>
            <a:r>
              <a:rPr lang="en-US" dirty="0">
                <a:ea typeface="+mn-lt"/>
                <a:cs typeface="+mn-lt"/>
              </a:rPr>
              <a:t>when further segmented by variables such as gender, educational background, age groups, and departments.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3EC5-15B4-0233-EB97-236DB4B99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243"/>
          </a:xfrm>
        </p:spPr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Results (2)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63DC1E1-E64B-351A-B7C2-10484FD6A6A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49159645"/>
              </p:ext>
            </p:extLst>
          </p:nvPr>
        </p:nvGraphicFramePr>
        <p:xfrm>
          <a:off x="6038490" y="948905"/>
          <a:ext cx="5808388" cy="52691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920">
                  <a:extLst>
                    <a:ext uri="{9D8B030D-6E8A-4147-A177-3AD203B41FA5}">
                      <a16:colId xmlns:a16="http://schemas.microsoft.com/office/drawing/2014/main" val="847262769"/>
                    </a:ext>
                  </a:extLst>
                </a:gridCol>
                <a:gridCol w="2180136">
                  <a:extLst>
                    <a:ext uri="{9D8B030D-6E8A-4147-A177-3AD203B41FA5}">
                      <a16:colId xmlns:a16="http://schemas.microsoft.com/office/drawing/2014/main" val="1932356702"/>
                    </a:ext>
                  </a:extLst>
                </a:gridCol>
                <a:gridCol w="938890">
                  <a:extLst>
                    <a:ext uri="{9D8B030D-6E8A-4147-A177-3AD203B41FA5}">
                      <a16:colId xmlns:a16="http://schemas.microsoft.com/office/drawing/2014/main" val="2467714135"/>
                    </a:ext>
                  </a:extLst>
                </a:gridCol>
                <a:gridCol w="891150">
                  <a:extLst>
                    <a:ext uri="{9D8B030D-6E8A-4147-A177-3AD203B41FA5}">
                      <a16:colId xmlns:a16="http://schemas.microsoft.com/office/drawing/2014/main" val="1530439554"/>
                    </a:ext>
                  </a:extLst>
                </a:gridCol>
                <a:gridCol w="1416292">
                  <a:extLst>
                    <a:ext uri="{9D8B030D-6E8A-4147-A177-3AD203B41FA5}">
                      <a16:colId xmlns:a16="http://schemas.microsoft.com/office/drawing/2014/main" val="2566902644"/>
                    </a:ext>
                  </a:extLst>
                </a:gridCol>
              </a:tblGrid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Factors related to attrition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Regression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Correlation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Standardization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429844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Distance From Home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302985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Travel Frequency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151788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No of Companies worked before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386240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-0.159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020575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Years at Company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-0.049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322752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Performance Rating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66226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Jobs Involvement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-0.067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178467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Job Level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-0.169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920319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Job Satisfaction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-0.103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215905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Relationship Satisfaction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-0.046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814640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Work Life Balance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-0.064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12956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Training Times Last Year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01956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Monthly Income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-1.24893E-05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-0.160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115201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Stock Option Level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587939"/>
                  </a:ext>
                </a:extLst>
              </a:tr>
              <a:tr h="329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Percent Salary Hike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909324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92A2-37CB-2C39-30CC-82FBB74C9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264909"/>
            <a:ext cx="4879676" cy="509895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According to the results, </a:t>
            </a:r>
            <a:r>
              <a:rPr lang="en-US" b="1">
                <a:ea typeface="+mn-lt"/>
                <a:cs typeface="+mn-lt"/>
              </a:rPr>
              <a:t>travel frequency</a:t>
            </a:r>
            <a:r>
              <a:rPr lang="en-US">
                <a:ea typeface="+mn-lt"/>
                <a:cs typeface="+mn-lt"/>
              </a:rPr>
              <a:t> appears to be the strongest factor increasing the likelihood of attrition.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On the other hand, </a:t>
            </a:r>
            <a:r>
              <a:rPr lang="en-US" b="1" dirty="0">
                <a:ea typeface="+mn-lt"/>
                <a:cs typeface="+mn-lt"/>
              </a:rPr>
              <a:t>monthly income</a:t>
            </a:r>
            <a:r>
              <a:rPr lang="en-US" dirty="0">
                <a:ea typeface="+mn-lt"/>
                <a:cs typeface="+mn-lt"/>
              </a:rPr>
              <a:t> is the most influential financial factor, while </a:t>
            </a:r>
            <a:r>
              <a:rPr lang="en-US" b="1" dirty="0">
                <a:ea typeface="+mn-lt"/>
                <a:cs typeface="+mn-lt"/>
              </a:rPr>
              <a:t>age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job level</a:t>
            </a:r>
            <a:r>
              <a:rPr lang="en-US" dirty="0">
                <a:ea typeface="+mn-lt"/>
                <a:cs typeface="+mn-lt"/>
              </a:rPr>
              <a:t> are the most important factors, related to stability and adaptation, associated with reducing attrition.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06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Hypothesis (1)</vt:lpstr>
      <vt:lpstr>Hypothesis (2)</vt:lpstr>
      <vt:lpstr>Results (1)</vt:lpstr>
      <vt:lpstr>Results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435</cp:revision>
  <dcterms:created xsi:type="dcterms:W3CDTF">2026-05-20T17:50:49Z</dcterms:created>
  <dcterms:modified xsi:type="dcterms:W3CDTF">2026-05-20T19:16:21Z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2026-05-20T17:51:14Z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92aeaed7-66c2-4a77-b6eb-eb68b11136af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10, 3, 0, 2</vt:lpwstr>
  </property>
</Properties>
</file>